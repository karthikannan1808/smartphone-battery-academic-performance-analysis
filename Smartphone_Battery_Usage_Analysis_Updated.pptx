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demand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Messaging</c:v>
                </c:pt>
                <c:pt idx="1">
                  <c:v>Video</c:v>
                </c:pt>
                <c:pt idx="2">
                  <c:v>Gaming</c:v>
                </c:pt>
                <c:pt idx="3">
                  <c:v>Browsing</c:v>
                </c:pt>
                <c:pt idx="4">
                  <c:v>Social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70</c:v>
                </c:pt>
                <c:pt idx="2">
                  <c:v>85</c:v>
                </c:pt>
                <c:pt idx="3">
                  <c:v>35</c:v>
                </c:pt>
                <c:pt idx="4">
                  <c:v>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32520" y="640080"/>
            <a:ext cx="2286000" cy="2286000"/>
          </a:xfrm>
          <a:prstGeom prst="ellipse">
            <a:avLst/>
          </a:prstGeom>
          <a:solidFill>
            <a:srgbClr val="26848B"/>
          </a:solidFill>
          <a:ln>
            <a:solidFill>
              <a:srgbClr val="26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72600" y="1280160"/>
            <a:ext cx="1051560" cy="1051560"/>
          </a:xfrm>
          <a:prstGeom prst="ellipse">
            <a:avLst/>
          </a:prstGeom>
          <a:solidFill>
            <a:srgbClr val="DC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7132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93D7D5"/>
                </a:solidFill>
                <a:latin typeface="Aptos"/>
              </a:rPr>
              <a:t>EXPLORATORY DATA ANALYSIS  |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777240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Smartphone Battery
&amp; Usage Pattern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816352"/>
            <a:ext cx="70408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DDE8ED"/>
                </a:solidFill>
                <a:latin typeface="Aptos"/>
              </a:rPr>
              <a:t>Understanding how screen time, apps and connectivity affect battery 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3611880"/>
            <a:ext cx="914400" cy="54864"/>
          </a:xfrm>
          <a:prstGeom prst="rect">
            <a:avLst/>
          </a:prstGeom>
          <a:solidFill>
            <a:srgbClr val="DC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913632"/>
            <a:ext cx="5394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93D7D5"/>
                </a:solidFill>
                <a:latin typeface="Aptos"/>
              </a:rPr>
              <a:t>PROJECT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251960"/>
            <a:ext cx="585216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B Kevin Gabriel B  (814725243092)
Karthi Kannan M  (814725243083)
Mohamed Hisham A  (814725243108)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913632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93D7D5"/>
                </a:solidFill>
                <a:latin typeface="Aptos"/>
              </a:rPr>
              <a:t>ACADEMIC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4251960"/>
            <a:ext cx="457200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Department: Artificial Intelligence and Data Science
College: SRM TRP Engineering College
Subject: Exploratory Data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6355080"/>
            <a:ext cx="5943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9C9D3"/>
                </a:solidFill>
                <a:latin typeface="Aptos"/>
              </a:rPr>
              <a:t>MINI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93149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3707A"/>
                </a:solidFill>
                <a:latin typeface="Aptos"/>
              </a:rPr>
              <a:t>Why smartphone battery usage is worth studying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3707A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66344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2A343D"/>
                </a:solidFill>
                <a:latin typeface="Aptos"/>
              </a:rPr>
              <a:t>Smartphones are used throughout the day for communication, learning, entertainment and work. Battery drain changes depending on what the phone is doing.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73736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440" y="1901952"/>
            <a:ext cx="64008" cy="1088136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7607" y="1901952"/>
            <a:ext cx="21488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Screen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7607" y="2359152"/>
            <a:ext cx="214884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Longer active use often means more power is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73736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40" y="1901952"/>
            <a:ext cx="64008" cy="1088136"/>
          </a:xfrm>
          <a:prstGeom prst="rect">
            <a:avLst/>
          </a:prstGeom>
          <a:solidFill>
            <a:srgbClr val="DC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1901952"/>
            <a:ext cx="21488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App activity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8" y="2359152"/>
            <a:ext cx="214884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Games, video and background tasks can use different amounts of energy.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52044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3685032"/>
            <a:ext cx="64008" cy="1088136"/>
          </a:xfrm>
          <a:prstGeom prst="rect">
            <a:avLst/>
          </a:prstGeom>
          <a:solidFill>
            <a:srgbClr val="4A6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07607" y="3685032"/>
            <a:ext cx="21488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Connectivity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607" y="4142232"/>
            <a:ext cx="214884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Mobile data, Wi-Fi and location can affect consumption.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52044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49640" y="3685032"/>
            <a:ext cx="64008" cy="1088136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0808" y="3685032"/>
            <a:ext cx="21488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User habits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4142232"/>
            <a:ext cx="214884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Daily routines help explain when usage is highest.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40480"/>
            <a:ext cx="43891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Our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15968"/>
            <a:ext cx="438912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63707A"/>
                </a:solidFill>
                <a:latin typeface="Aptos"/>
              </a:rPr>
              <a:t>Explore usage data, identify possible patterns and turn the findings into practical battery-saving suggestions.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93149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3707A"/>
                </a:solidFill>
                <a:latin typeface="Aptos"/>
              </a:rPr>
              <a:t>What makes battery drain difficult to understand?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3707A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01952"/>
            <a:ext cx="64008" cy="1088136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01952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Fast battery drain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59152"/>
            <a:ext cx="306324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A phone may lose charge quickly during certain tasks.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901952"/>
            <a:ext cx="64008" cy="1088136"/>
          </a:xfrm>
          <a:prstGeom prst="rect">
            <a:avLst/>
          </a:prstGeom>
          <a:solidFill>
            <a:srgbClr val="DC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01952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Background 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59152"/>
            <a:ext cx="306324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Apps can continue syncing or updating when not in 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7373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901952"/>
            <a:ext cx="64008" cy="1088136"/>
          </a:xfrm>
          <a:prstGeom prst="rect">
            <a:avLst/>
          </a:prstGeom>
          <a:solidFill>
            <a:srgbClr val="4A6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901952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Heavy usage periods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359152"/>
            <a:ext cx="306324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Gaming, streaming or long screen sessions may increase demand.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37033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0" y="3867911"/>
            <a:ext cx="64008" cy="1088136"/>
          </a:xfrm>
          <a:prstGeom prst="rect">
            <a:avLst/>
          </a:prstGeom>
          <a:solidFill>
            <a:srgbClr val="4A6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61488" y="3867911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Charging habits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4325112"/>
            <a:ext cx="306324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Frequent charging can be a sign of high daily consumption.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7033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867911"/>
            <a:ext cx="64008" cy="1088136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3867911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Limited awareness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4325112"/>
            <a:ext cx="306324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Users may not know which activities contribute most.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93149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3707A"/>
                </a:solidFill>
                <a:latin typeface="Aptos"/>
              </a:rPr>
              <a:t>Questions we want the data to help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3707A"/>
                </a:solidFill>
                <a:latin typeface="Aptos"/>
              </a:rPr>
              <a:t>04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627632"/>
            <a:ext cx="502920" cy="502920"/>
          </a:xfrm>
          <a:prstGeom prst="ellipse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09344"/>
            <a:ext cx="2423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Measure battery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618488"/>
            <a:ext cx="69494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A343D"/>
                </a:solidFill>
                <a:latin typeface="Aptos"/>
              </a:rPr>
              <a:t>Study battery percentage and consumption patterns.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487168"/>
            <a:ext cx="502920" cy="502920"/>
          </a:xfrm>
          <a:prstGeom prst="ellipse">
            <a:avLst/>
          </a:prstGeom>
          <a:solidFill>
            <a:srgbClr val="DC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78608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468879"/>
            <a:ext cx="2423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Compare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78024"/>
            <a:ext cx="69494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A343D"/>
                </a:solidFill>
                <a:latin typeface="Aptos"/>
              </a:rPr>
              <a:t>Identify categories of apps that may use more power.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346704"/>
            <a:ext cx="502920" cy="502920"/>
          </a:xfrm>
          <a:prstGeom prst="ellipse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38144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328416"/>
            <a:ext cx="2423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Study screen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337560"/>
            <a:ext cx="69494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A343D"/>
                </a:solidFill>
                <a:latin typeface="Aptos"/>
              </a:rPr>
              <a:t>Explore the relationship between active use and battery drain.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206240"/>
            <a:ext cx="502920" cy="502920"/>
          </a:xfrm>
          <a:prstGeom prst="ellipse">
            <a:avLst/>
          </a:prstGeom>
          <a:solidFill>
            <a:srgbClr val="DC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97679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87952"/>
            <a:ext cx="2423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Find daily trends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197096"/>
            <a:ext cx="69494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A343D"/>
                </a:solidFill>
                <a:latin typeface="Aptos"/>
              </a:rPr>
              <a:t>Look for busier periods across the day.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5065776"/>
            <a:ext cx="502920" cy="502920"/>
          </a:xfrm>
          <a:prstGeom prst="ellipse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57216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047488"/>
            <a:ext cx="2423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Offer practical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5056632"/>
            <a:ext cx="69494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A343D"/>
                </a:solidFill>
                <a:latin typeface="Aptos"/>
              </a:rPr>
              <a:t>Suggest realistic ways to manage battery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93149"/>
                </a:solidFill>
                <a:latin typeface="Aptos"/>
              </a:rPr>
              <a:t>Data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3707A"/>
                </a:solidFill>
                <a:latin typeface="Aptos"/>
              </a:rPr>
              <a:t>Example variables used to describe smartphone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3707A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27632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92224"/>
            <a:ext cx="64008" cy="813816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93149"/>
                </a:solidFill>
                <a:latin typeface="Aptos"/>
              </a:rPr>
              <a:t>Screen-on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49424"/>
            <a:ext cx="306324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A343D"/>
                </a:solidFill>
                <a:latin typeface="Aptos"/>
              </a:rPr>
              <a:t>Time the screen stays 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627632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792224"/>
            <a:ext cx="64008" cy="813816"/>
          </a:xfrm>
          <a:prstGeom prst="rect">
            <a:avLst/>
          </a:prstGeom>
          <a:solidFill>
            <a:srgbClr val="DC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1792224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93149"/>
                </a:solidFill>
                <a:latin typeface="Aptos"/>
              </a:rPr>
              <a:t>Charging 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249424"/>
            <a:ext cx="306324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A343D"/>
                </a:solidFill>
                <a:latin typeface="Aptos"/>
              </a:rPr>
              <a:t>Time connected to a charger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627632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792224"/>
            <a:ext cx="64008" cy="813816"/>
          </a:xfrm>
          <a:prstGeom prst="rect">
            <a:avLst/>
          </a:prstGeom>
          <a:solidFill>
            <a:srgbClr val="4A6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1792224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93149"/>
                </a:solidFill>
                <a:latin typeface="Aptos"/>
              </a:rPr>
              <a:t>Battery percentage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249424"/>
            <a:ext cx="306324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A343D"/>
                </a:solidFill>
                <a:latin typeface="Aptos"/>
              </a:rPr>
              <a:t>Recorded charge level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44952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209544"/>
            <a:ext cx="64008" cy="813816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209544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93149"/>
                </a:solidFill>
                <a:latin typeface="Aptos"/>
              </a:rPr>
              <a:t>App usage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666744"/>
            <a:ext cx="306324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A343D"/>
                </a:solidFill>
                <a:latin typeface="Aptos"/>
              </a:rPr>
              <a:t>Time spent in individual apps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044952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0" y="3209544"/>
            <a:ext cx="64008" cy="813816"/>
          </a:xfrm>
          <a:prstGeom prst="rect">
            <a:avLst/>
          </a:prstGeom>
          <a:solidFill>
            <a:srgbClr val="DC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3209544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93149"/>
                </a:solidFill>
                <a:latin typeface="Aptos"/>
              </a:rPr>
              <a:t>Apps used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3666744"/>
            <a:ext cx="306324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A343D"/>
                </a:solidFill>
                <a:latin typeface="Aptos"/>
              </a:rPr>
              <a:t>Count of applications opened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044952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209544"/>
            <a:ext cx="64008" cy="813816"/>
          </a:xfrm>
          <a:prstGeom prst="rect">
            <a:avLst/>
          </a:prstGeom>
          <a:solidFill>
            <a:srgbClr val="4A6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2208" y="3209544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93149"/>
                </a:solidFill>
                <a:latin typeface="Aptos"/>
              </a:rPr>
              <a:t>Mobile data usage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3666744"/>
            <a:ext cx="306324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A343D"/>
                </a:solidFill>
                <a:latin typeface="Aptos"/>
              </a:rPr>
              <a:t>Data consumed over the network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462272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626864"/>
            <a:ext cx="64008" cy="813816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626864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93149"/>
                </a:solidFill>
                <a:latin typeface="Aptos"/>
              </a:rPr>
              <a:t>Wi-Fi usage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084064"/>
            <a:ext cx="306324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A343D"/>
                </a:solidFill>
                <a:latin typeface="Aptos"/>
              </a:rPr>
              <a:t>Time or activity on Wi-Fi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26280" y="4462272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26280" y="4626864"/>
            <a:ext cx="64008" cy="813816"/>
          </a:xfrm>
          <a:prstGeom prst="rect">
            <a:avLst/>
          </a:prstGeom>
          <a:solidFill>
            <a:srgbClr val="DC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27448" y="4626864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93149"/>
                </a:solidFill>
                <a:latin typeface="Aptos"/>
              </a:rPr>
              <a:t>Background activity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27448" y="5084064"/>
            <a:ext cx="306324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A343D"/>
                </a:solidFill>
                <a:latin typeface="Aptos"/>
              </a:rPr>
              <a:t>Apps running or syncing in the background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4462272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21040" y="4626864"/>
            <a:ext cx="64008" cy="813816"/>
          </a:xfrm>
          <a:prstGeom prst="rect">
            <a:avLst/>
          </a:prstGeom>
          <a:solidFill>
            <a:srgbClr val="4A6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22208" y="4626864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93149"/>
                </a:solidFill>
                <a:latin typeface="Aptos"/>
              </a:rPr>
              <a:t>Battery temperature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22208" y="5084064"/>
            <a:ext cx="306324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A343D"/>
                </a:solidFill>
                <a:latin typeface="Aptos"/>
              </a:rPr>
              <a:t>Temperature reading, where 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93149"/>
                </a:solidFill>
                <a:latin typeface="Aptos"/>
              </a:rPr>
              <a:t>Usage Pattern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3707A"/>
                </a:solidFill>
                <a:latin typeface="Aptos"/>
              </a:rPr>
              <a:t>A simple way to interpret daily phone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3707A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4241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Typical day (illustrative pattern)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77440"/>
            <a:ext cx="2148840" cy="960120"/>
          </a:xfrm>
          <a:prstGeom prst="roundRect">
            <a:avLst/>
          </a:prstGeom>
          <a:solidFill>
            <a:srgbClr val="D6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2542032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93149"/>
                </a:solidFill>
                <a:latin typeface="Aptos"/>
              </a:rPr>
              <a:t>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852928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193149"/>
                </a:solidFill>
                <a:latin typeface="Aptos"/>
              </a:rPr>
              <a:t>Light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377440"/>
            <a:ext cx="2148840" cy="960120"/>
          </a:xfrm>
          <a:prstGeom prst="roundRect">
            <a:avLst/>
          </a:prstGeom>
          <a:solidFill>
            <a:srgbClr val="9BD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2542032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93149"/>
                </a:solidFill>
                <a:latin typeface="Aptos"/>
              </a:rPr>
              <a:t>Afternoon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852928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193149"/>
                </a:solidFill>
                <a:latin typeface="Aptos"/>
              </a:rPr>
              <a:t>Moderate 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377440"/>
            <a:ext cx="2148840" cy="960120"/>
          </a:xfrm>
          <a:prstGeom prst="round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542032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Evening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852928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Potential peak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377440"/>
            <a:ext cx="2148840" cy="960120"/>
          </a:xfrm>
          <a:prstGeom prst="roundRect">
            <a:avLst/>
          </a:prstGeom>
          <a:solidFill>
            <a:srgbClr val="6E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0848" y="2542032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93149"/>
                </a:solidFill>
                <a:latin typeface="Aptos"/>
              </a:rPr>
              <a:t>Night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2852928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193149"/>
                </a:solidFill>
                <a:latin typeface="Aptos"/>
              </a:rPr>
              <a:t>Moderate / variable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977639"/>
            <a:ext cx="30632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142231"/>
            <a:ext cx="64008" cy="859536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142231"/>
            <a:ext cx="2697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Gaming / streaming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599431"/>
            <a:ext cx="2697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Often demands more processing and screen activity.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977639"/>
            <a:ext cx="30632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4142231"/>
            <a:ext cx="64008" cy="859536"/>
          </a:xfrm>
          <a:prstGeom prst="rect">
            <a:avLst/>
          </a:prstGeom>
          <a:solidFill>
            <a:srgbClr val="DC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4142231"/>
            <a:ext cx="2697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Social media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4599431"/>
            <a:ext cx="2697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Combines screen time, networking and media playback.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977639"/>
            <a:ext cx="30632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4142231"/>
            <a:ext cx="64008" cy="859536"/>
          </a:xfrm>
          <a:prstGeom prst="rect">
            <a:avLst/>
          </a:prstGeom>
          <a:solidFill>
            <a:srgbClr val="4A6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8" y="4142231"/>
            <a:ext cx="2697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93149"/>
                </a:solidFill>
                <a:latin typeface="Aptos"/>
              </a:rPr>
              <a:t>Work / productivity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4599431"/>
            <a:ext cx="2697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Usage varies with app features and task duration.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3707A"/>
                </a:solidFill>
                <a:latin typeface="Aptos"/>
              </a:rPr>
              <a:t>Note: the timeline is illustrative; actual peak hours should be confirmed from the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93149"/>
                </a:solidFill>
                <a:latin typeface="Aptos"/>
              </a:rPr>
              <a:t>Data Analysis &amp; Visualisation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3707A"/>
                </a:solidFill>
                <a:latin typeface="Aptos"/>
              </a:rPr>
              <a:t>Charts that help reveal relationships and differences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3707A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120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93149"/>
                </a:solidFill>
                <a:latin typeface="Aptos"/>
              </a:rPr>
              <a:t>Illustrative app energy demand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965960"/>
          <a:ext cx="5074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93149"/>
                </a:solidFill>
                <a:latin typeface="Aptos"/>
              </a:rPr>
              <a:t>Patterns to examine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66344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A343D"/>
                </a:solidFill>
                <a:latin typeface="Aptos"/>
              </a:defRPr>
            </a:pPr>
            <a:r>
              <a:t>•  Compare app categories by usage and battery impact.</a:t>
            </a:r>
          </a:p>
          <a:p>
            <a:pPr>
              <a:spcAft>
                <a:spcPts val="1300"/>
              </a:spcAft>
              <a:defRPr sz="1500">
                <a:solidFill>
                  <a:srgbClr val="2A343D"/>
                </a:solidFill>
                <a:latin typeface="Aptos"/>
              </a:defRPr>
            </a:pPr>
            <a:r>
              <a:t>•  Check whether longer screen time aligns with greater drain.</a:t>
            </a:r>
          </a:p>
          <a:p>
            <a:pPr>
              <a:spcAft>
                <a:spcPts val="1300"/>
              </a:spcAft>
              <a:defRPr sz="1500">
                <a:solidFill>
                  <a:srgbClr val="2A343D"/>
                </a:solidFill>
                <a:latin typeface="Aptos"/>
              </a:defRPr>
            </a:pPr>
            <a:r>
              <a:t>•  Track battery percentage at different times of day.</a:t>
            </a:r>
          </a:p>
          <a:p>
            <a:pPr>
              <a:spcAft>
                <a:spcPts val="1300"/>
              </a:spcAft>
              <a:defRPr sz="1500">
                <a:solidFill>
                  <a:srgbClr val="2A343D"/>
                </a:solidFill>
                <a:latin typeface="Aptos"/>
              </a:defRPr>
            </a:pPr>
            <a:r>
              <a:t>•  Look for outliers or unusually high consumption.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3707A"/>
                </a:solidFill>
                <a:latin typeface="Aptos"/>
              </a:rPr>
              <a:t>Chart values are illustrative placeholders, not measured results from a supplied dataset.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93149"/>
                </a:solidFill>
                <a:latin typeface="Aptos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3707A"/>
                </a:solidFill>
                <a:latin typeface="Aptos"/>
              </a:rPr>
              <a:t>Main patterns to validate against the collected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3707A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01952"/>
            <a:ext cx="64008" cy="1088136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01952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93149"/>
                </a:solidFill>
                <a:latin typeface="Aptos"/>
              </a:rPr>
              <a:t>Screen time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59152"/>
            <a:ext cx="306324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Longer active sessions can contribute to faster battery drain.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373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901952"/>
            <a:ext cx="64008" cy="1088136"/>
          </a:xfrm>
          <a:prstGeom prst="rect">
            <a:avLst/>
          </a:prstGeom>
          <a:solidFill>
            <a:srgbClr val="DC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901952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93149"/>
                </a:solidFill>
                <a:latin typeface="Aptos"/>
              </a:rPr>
              <a:t>High-demand apps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359152"/>
            <a:ext cx="306324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Gaming and video playback can use more power than lightweight tasks.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373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901952"/>
            <a:ext cx="64008" cy="1088136"/>
          </a:xfrm>
          <a:prstGeom prst="rect">
            <a:avLst/>
          </a:prstGeom>
          <a:solidFill>
            <a:srgbClr val="4A6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1901952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93149"/>
                </a:solidFill>
                <a:latin typeface="Aptos"/>
              </a:rPr>
              <a:t>Background processes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2359152"/>
            <a:ext cx="306324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Syncing, notifications and location access may add to consumption.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5661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730752"/>
            <a:ext cx="64008" cy="1088136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3730752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93149"/>
                </a:solidFill>
                <a:latin typeface="Aptos"/>
              </a:rPr>
              <a:t>Timing can matter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187952"/>
            <a:ext cx="306324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Usage may peak at particular times depending on daily habits.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5661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730752"/>
            <a:ext cx="64008" cy="1088136"/>
          </a:xfrm>
          <a:prstGeom prst="rect">
            <a:avLst/>
          </a:prstGeom>
          <a:solidFill>
            <a:srgbClr val="DC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3730752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93149"/>
                </a:solidFill>
                <a:latin typeface="Aptos"/>
              </a:rPr>
              <a:t>Charging reflects routine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187952"/>
            <a:ext cx="306324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Frequent charging can indicate heavy use, but is not proof by itself.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3707A"/>
                </a:solidFill>
                <a:latin typeface="Aptos"/>
              </a:rPr>
              <a:t>These are general interpretations; numerical conclusions require validated dataset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93149"/>
                </a:solidFill>
                <a:latin typeface="Aptos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3707A"/>
                </a:solidFill>
                <a:latin typeface="Aptos"/>
              </a:rPr>
              <a:t>Practical steps users can 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3707A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10512"/>
            <a:ext cx="64008" cy="749808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810512"/>
            <a:ext cx="4800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93149"/>
                </a:solidFill>
                <a:latin typeface="Aptos"/>
              </a:rPr>
              <a:t>Lower screen brightness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267712"/>
            <a:ext cx="48006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A343D"/>
                </a:solidFill>
                <a:latin typeface="Aptos"/>
              </a:rPr>
              <a:t>Use automatic brightness or a comfortable lower setting.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64592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810512"/>
            <a:ext cx="64008" cy="749808"/>
          </a:xfrm>
          <a:prstGeom prst="rect">
            <a:avLst/>
          </a:prstGeom>
          <a:solidFill>
            <a:srgbClr val="DC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810512"/>
            <a:ext cx="4800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93149"/>
                </a:solidFill>
                <a:latin typeface="Aptos"/>
              </a:rPr>
              <a:t>Review background 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267712"/>
            <a:ext cx="48006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A343D"/>
                </a:solidFill>
                <a:latin typeface="Aptos"/>
              </a:rPr>
              <a:t>Limit background use for apps that do not need constant updates.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999232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163824"/>
            <a:ext cx="64008" cy="749808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163824"/>
            <a:ext cx="4800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93149"/>
                </a:solidFill>
                <a:latin typeface="Aptos"/>
              </a:rPr>
              <a:t>Use battery saver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21024"/>
            <a:ext cx="48006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A343D"/>
                </a:solidFill>
                <a:latin typeface="Aptos"/>
              </a:rPr>
              <a:t>Enable it when you need the charge to last longer.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999232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3163824"/>
            <a:ext cx="64008" cy="749808"/>
          </a:xfrm>
          <a:prstGeom prst="rect">
            <a:avLst/>
          </a:prstGeom>
          <a:solidFill>
            <a:srgbClr val="DC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3163824"/>
            <a:ext cx="4800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93149"/>
                </a:solidFill>
                <a:latin typeface="Aptos"/>
              </a:rPr>
              <a:t>Check battery usage settings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3621024"/>
            <a:ext cx="48006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A343D"/>
                </a:solidFill>
                <a:latin typeface="Aptos"/>
              </a:rPr>
              <a:t>Review which apps consume the most power on your device.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352544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517136"/>
            <a:ext cx="64008" cy="749808"/>
          </a:xfrm>
          <a:prstGeom prst="rect">
            <a:avLst/>
          </a:prstGeom>
          <a:solidFill>
            <a:srgbClr val="26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517136"/>
            <a:ext cx="4800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93149"/>
                </a:solidFill>
                <a:latin typeface="Aptos"/>
              </a:rPr>
              <a:t>Manage location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974336"/>
            <a:ext cx="48006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A343D"/>
                </a:solidFill>
                <a:latin typeface="Aptos"/>
              </a:rPr>
              <a:t>Allow location only when an app needs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4352544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4517136"/>
            <a:ext cx="64008" cy="749808"/>
          </a:xfrm>
          <a:prstGeom prst="rect">
            <a:avLst/>
          </a:prstGeom>
          <a:solidFill>
            <a:srgbClr val="DC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47688" y="4517136"/>
            <a:ext cx="4800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93149"/>
                </a:solidFill>
                <a:latin typeface="Aptos"/>
              </a:rPr>
              <a:t>Reduce unnecessary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4974336"/>
            <a:ext cx="48006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A343D"/>
                </a:solidFill>
                <a:latin typeface="Aptos"/>
              </a:rPr>
              <a:t>Turn off notifications that are not useful.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897880"/>
            <a:ext cx="10424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3707A"/>
                </a:solidFill>
                <a:latin typeface="Aptos"/>
              </a:rPr>
              <a:t>The best changes depend on the phone model, battery condition and individual habits.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6848B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193149"/>
                </a:solidFill>
                <a:latin typeface="Aptos"/>
              </a:rPr>
              <a:t>Small usage habits can make a difference.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40280"/>
            <a:ext cx="969264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2A343D"/>
                </a:solidFill>
                <a:latin typeface="Aptos"/>
              </a:rPr>
              <a:t>Exploratory data analysis helps us understand how applications, screen time and connectivity may influence smartphone battery consumption.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0332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04487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6848B"/>
                </a:solidFill>
                <a:latin typeface="Apto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279392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Use data to describe usage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370332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3904487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6848B"/>
                </a:solidFill>
                <a:latin typeface="Aptos"/>
              </a:rPr>
              <a:t>Manage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4279392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Identify settings and apps worth reviewing.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59" y="370332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1351" y="3904487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6848B"/>
                </a:solidFill>
                <a:latin typeface="Aptos"/>
              </a:rPr>
              <a:t>Improve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1" y="4279392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Make informed choices about daily phone 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06440"/>
            <a:ext cx="64008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93149"/>
                </a:solidFill>
                <a:latin typeface="Aptos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925312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26848B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